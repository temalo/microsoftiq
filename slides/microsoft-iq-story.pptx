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2F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Contoso Events</a:t>
            </a:r>
            <a:r>
              <a:rPr sz="1800" b="0">
                <a:solidFill>
                  <a:srgbClr val="6F86A6"/>
                </a:solidFill>
                <a:latin typeface="Segoe UI"/>
              </a:rPr>
              <a:t>    |    </a:t>
            </a:r>
            <a:r>
              <a:rPr sz="1400" b="1">
                <a:solidFill>
                  <a:srgbClr val="CFE0F2"/>
                </a:solidFill>
                <a:latin typeface="Segoe UI"/>
              </a:rPr>
              <a:t>Conferences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37744"/>
            <a:ext cx="1645920" cy="365760"/>
          </a:xfrm>
          <a:prstGeom prst="roundRect">
            <a:avLst/>
          </a:prstGeom>
          <a:noFill/>
          <a:ln w="12700">
            <a:solidFill>
              <a:srgbClr val="6F8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56032"/>
            <a:ext cx="1645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F6BD6"/>
                </a:solidFill>
                <a:latin typeface="Segoe UI"/>
              </a:rPr>
              <a:t>● </a:t>
            </a:r>
            <a:r>
              <a:rPr sz="1050" b="1">
                <a:solidFill>
                  <a:srgbClr val="CFE0F2"/>
                </a:solidFill>
                <a:latin typeface="Segoe UI"/>
              </a:rPr>
              <a:t>ILLUSTRATIVE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ED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111556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B2A4A"/>
                </a:solidFill>
                <a:latin typeface="Segoe UI"/>
              </a:rPr>
              <a:t>Illustrative only. </a:t>
            </a:r>
            <a:r>
              <a:rPr sz="900" b="0">
                <a:solidFill>
                  <a:srgbClr val="5B6770"/>
                </a:solidFill>
                <a:latin typeface="Segoe UI"/>
              </a:rPr>
              <a:t>Synthetic demo data generated for this project. “Contoso Events” is a fictitious company; any resemblance to real organizations is coincidental.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5156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B2A4A"/>
                </a:solidFill>
                <a:latin typeface="Segoe UI"/>
              </a:rPr>
              <a:t>What the output of this exercise looks like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2763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5B6770"/>
                </a:solidFill>
                <a:latin typeface="Segoe UI"/>
              </a:rPr>
              <a:t>One business question — </a:t>
            </a:r>
            <a:r>
              <a:rPr sz="1600" b="1">
                <a:solidFill>
                  <a:srgbClr val="2F6BD6"/>
                </a:solidFill>
                <a:latin typeface="Segoe UI"/>
              </a:rPr>
              <a:t>“How many licensed users do we have?”</a:t>
            </a:r>
            <a:r>
              <a:rPr sz="1600" b="0">
                <a:solidFill>
                  <a:srgbClr val="5B6770"/>
                </a:solidFill>
                <a:latin typeface="Segoe UI"/>
              </a:rPr>
              <a:t> — four defensible, reconcilable answers.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86000"/>
            <a:ext cx="5486400" cy="658368"/>
          </a:xfrm>
          <a:prstGeom prst="round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5029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B6770"/>
                </a:solidFill>
                <a:latin typeface="Segoe UI"/>
              </a:rPr>
              <a:t>You: </a:t>
            </a:r>
            <a:r>
              <a:rPr sz="1300" b="0">
                <a:solidFill>
                  <a:srgbClr val="1A1A1A"/>
                </a:solidFill>
                <a:latin typeface="Segoe UI"/>
              </a:rPr>
              <a:t>How many licensed users do we have?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108960"/>
            <a:ext cx="685800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108960"/>
            <a:ext cx="20665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Business unit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3108960"/>
            <a:ext cx="26151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Definition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33288" y="3108960"/>
            <a:ext cx="6949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Count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7688" y="3108960"/>
            <a:ext cx="6035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Status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566160"/>
            <a:ext cx="6858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566160"/>
            <a:ext cx="2066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A1A1A"/>
                </a:solidFill>
                <a:latin typeface="Segoe UI"/>
              </a:rPr>
              <a:t>Sales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98648" y="3566160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770"/>
                </a:solidFill>
                <a:latin typeface="Segoe UI"/>
              </a:rPr>
              <a:t>Named licensed user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33288" y="3566160"/>
            <a:ext cx="694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B2A4A"/>
                </a:solidFill>
                <a:latin typeface="Segoe UI"/>
              </a:rPr>
              <a:t>658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7688" y="3566160"/>
            <a:ext cx="603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E7A3D"/>
                </a:solidFill>
                <a:latin typeface="Segoe UI"/>
              </a:rPr>
              <a:t>Ratified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041648"/>
            <a:ext cx="6858000" cy="475488"/>
          </a:xfrm>
          <a:prstGeom prst="rect">
            <a:avLst/>
          </a:prstGeom>
          <a:solidFill>
            <a:srgbClr val="F7F9FB"/>
          </a:solidFill>
          <a:ln w="6350"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41648"/>
            <a:ext cx="2066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A1A1A"/>
                </a:solidFill>
                <a:latin typeface="Segoe UI"/>
              </a:rPr>
              <a:t>Finance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98648" y="4041648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770"/>
                </a:solidFill>
                <a:latin typeface="Segoe UI"/>
              </a:rPr>
              <a:t>Paid licensed seat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33288" y="4041648"/>
            <a:ext cx="694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B2A4A"/>
                </a:solidFill>
                <a:latin typeface="Segoe UI"/>
              </a:rPr>
              <a:t>749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7688" y="4041648"/>
            <a:ext cx="603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E7A3D"/>
                </a:solidFill>
                <a:latin typeface="Segoe UI"/>
              </a:rPr>
              <a:t>Ratified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517136"/>
            <a:ext cx="6858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" y="4517136"/>
            <a:ext cx="2066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A1A1A"/>
                </a:solidFill>
                <a:latin typeface="Segoe UI"/>
              </a:rPr>
              <a:t>Global Service &amp; Delivery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98648" y="4517136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770"/>
                </a:solidFill>
                <a:latin typeface="Segoe UI"/>
              </a:rPr>
              <a:t>Served population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33288" y="4517136"/>
            <a:ext cx="694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B2A4A"/>
                </a:solidFill>
                <a:latin typeface="Segoe UI"/>
              </a:rPr>
              <a:t>2,294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47688" y="4517136"/>
            <a:ext cx="603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6A00"/>
                </a:solidFill>
                <a:latin typeface="Segoe UI"/>
              </a:rPr>
              <a:t>Proposed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992624"/>
            <a:ext cx="6858000" cy="475488"/>
          </a:xfrm>
          <a:prstGeom prst="rect">
            <a:avLst/>
          </a:prstGeom>
          <a:solidFill>
            <a:srgbClr val="F7F9FB"/>
          </a:solidFill>
          <a:ln w="6350"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" y="4992624"/>
            <a:ext cx="2066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A1A1A"/>
                </a:solidFill>
                <a:latin typeface="Segoe UI"/>
              </a:rPr>
              <a:t>Shared Services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98648" y="4992624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770"/>
                </a:solidFill>
                <a:latin typeface="Segoe UI"/>
              </a:rPr>
              <a:t>Login-capable identity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33288" y="4992624"/>
            <a:ext cx="694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B2A4A"/>
                </a:solidFill>
                <a:latin typeface="Segoe UI"/>
              </a:rPr>
              <a:t>3,484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47688" y="4992624"/>
            <a:ext cx="603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6A00"/>
                </a:solidFill>
                <a:latin typeface="Segoe UI"/>
              </a:rPr>
              <a:t>Proposed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35240" y="3108960"/>
            <a:ext cx="4023360" cy="12344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09560" y="324612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FE0F2"/>
                </a:solidFill>
                <a:latin typeface="Segoe UI"/>
              </a:rPr>
              <a:t>DEFINITION SPREAD (MAX − MIN)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09560" y="3566160"/>
            <a:ext cx="3474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2,826</a:t>
            </a:r>
            <a:r>
              <a:rPr sz="1200" b="0">
                <a:solidFill>
                  <a:srgbClr val="CFE0F2"/>
                </a:solidFill>
                <a:latin typeface="Segoe UI"/>
              </a:rPr>
              <a:t>   across 5,000 distinct users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35240" y="4526280"/>
            <a:ext cx="40233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35240" y="4526280"/>
            <a:ext cx="82296" cy="1371600"/>
          </a:xfrm>
          <a:prstGeom prst="rect">
            <a:avLst/>
          </a:prstGeom>
          <a:solidFill>
            <a:srgbClr val="2F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27848" y="4681728"/>
            <a:ext cx="34747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B6770"/>
                </a:solidFill>
                <a:latin typeface="Segoe UI"/>
              </a:rPr>
              <a:t>The agent’s answer: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1">
                <a:solidFill>
                  <a:srgbClr val="1B2A4A"/>
                </a:solidFill>
                <a:latin typeface="Segoe UI"/>
              </a:rPr>
              <a:t>“The variance is a governance / definition issue, not a data-quality problem.”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596128"/>
            <a:ext cx="6858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770"/>
                </a:solidFill>
                <a:latin typeface="Segoe UI"/>
              </a:rPr>
              <a:t>Every answer is grounded in the trusted </a:t>
            </a:r>
            <a:r>
              <a:rPr sz="1150" b="1">
                <a:solidFill>
                  <a:srgbClr val="1B2A4A"/>
                </a:solidFill>
                <a:latin typeface="Segoe UI"/>
              </a:rPr>
              <a:t>ConferencesData</a:t>
            </a:r>
            <a:r>
              <a:rPr sz="1150" b="0">
                <a:solidFill>
                  <a:srgbClr val="5B6770"/>
                </a:solidFill>
                <a:latin typeface="Segoe UI"/>
              </a:rPr>
              <a:t> model — each definition states its owner and source, and reconciles from the same tables.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2F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Contoso Events</a:t>
            </a:r>
            <a:r>
              <a:rPr sz="1800" b="0">
                <a:solidFill>
                  <a:srgbClr val="6F86A6"/>
                </a:solidFill>
                <a:latin typeface="Segoe UI"/>
              </a:rPr>
              <a:t>    |    </a:t>
            </a:r>
            <a:r>
              <a:rPr sz="1400" b="1">
                <a:solidFill>
                  <a:srgbClr val="CFE0F2"/>
                </a:solidFill>
                <a:latin typeface="Segoe UI"/>
              </a:rPr>
              <a:t>Conferences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37744"/>
            <a:ext cx="1645920" cy="365760"/>
          </a:xfrm>
          <a:prstGeom prst="roundRect">
            <a:avLst/>
          </a:prstGeom>
          <a:noFill/>
          <a:ln w="12700">
            <a:solidFill>
              <a:srgbClr val="6F8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56032"/>
            <a:ext cx="1645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F6BD6"/>
                </a:solidFill>
                <a:latin typeface="Segoe UI"/>
              </a:rPr>
              <a:t>● </a:t>
            </a:r>
            <a:r>
              <a:rPr sz="1050" b="1">
                <a:solidFill>
                  <a:srgbClr val="CFE0F2"/>
                </a:solidFill>
                <a:latin typeface="Segoe UI"/>
              </a:rPr>
              <a:t>ILLUSTRATIVE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ED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111556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B2A4A"/>
                </a:solidFill>
                <a:latin typeface="Segoe UI"/>
              </a:rPr>
              <a:t>Illustrative only. </a:t>
            </a:r>
            <a:r>
              <a:rPr sz="900" b="0">
                <a:solidFill>
                  <a:srgbClr val="5B6770"/>
                </a:solidFill>
                <a:latin typeface="Segoe UI"/>
              </a:rPr>
              <a:t>Synthetic demo data generated for this project. “Contoso Events” is a fictitious company; any resemblance to real organizations is coincidental.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5156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B2A4A"/>
                </a:solidFill>
                <a:latin typeface="Segoe UI"/>
              </a:rPr>
              <a:t>The trusted foundation behind that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2763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5B6770"/>
                </a:solidFill>
                <a:latin typeface="Segoe UI"/>
              </a:rPr>
              <a:t>A governed model, an ontology, and a conversational agent — built on Microsoft Fabric.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86000"/>
            <a:ext cx="5486400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45059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F6BD6"/>
                </a:solidFill>
                <a:latin typeface="Segoe UI"/>
              </a:rPr>
              <a:t>THE ONTOLOGY</a:t>
            </a:r>
            <a:r>
              <a:rPr sz="1100" b="0">
                <a:solidFill>
                  <a:srgbClr val="5B6770"/>
                </a:solidFill>
                <a:latin typeface="Segoe UI"/>
              </a:rPr>
              <a:t>   ·  7 core objects, 7 verbs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26080"/>
            <a:ext cx="4754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B2A4A"/>
                </a:solidFill>
                <a:latin typeface="Segoe UI"/>
              </a:rPr>
              <a:t>BusinessUnit</a:t>
            </a:r>
            <a:r>
              <a:rPr sz="1100" b="0">
                <a:solidFill>
                  <a:srgbClr val="5B6770"/>
                </a:solidFill>
                <a:latin typeface="Segoe UI"/>
              </a:rPr>
              <a:t>  — supports →  </a:t>
            </a:r>
            <a:r>
              <a:rPr sz="1250" b="1">
                <a:solidFill>
                  <a:srgbClr val="1B2A4A"/>
                </a:solidFill>
                <a:latin typeface="Segoe UI"/>
              </a:rPr>
              <a:t>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28416"/>
            <a:ext cx="4754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B2A4A"/>
                </a:solidFill>
                <a:latin typeface="Segoe UI"/>
              </a:rPr>
              <a:t>BusinessUnit</a:t>
            </a:r>
            <a:r>
              <a:rPr sz="1100" b="0">
                <a:solidFill>
                  <a:srgbClr val="5B6770"/>
                </a:solidFill>
                <a:latin typeface="Segoe UI"/>
              </a:rPr>
              <a:t>  — supports →  </a:t>
            </a:r>
            <a:r>
              <a:rPr sz="1250" b="1">
                <a:solidFill>
                  <a:srgbClr val="1B2A4A"/>
                </a:solidFill>
                <a:latin typeface="Segoe UI"/>
              </a:rPr>
              <a:t>Product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30752"/>
            <a:ext cx="4754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B2A4A"/>
                </a:solidFill>
                <a:latin typeface="Segoe UI"/>
              </a:rPr>
              <a:t>User</a:t>
            </a:r>
            <a:r>
              <a:rPr sz="1100" b="0">
                <a:solidFill>
                  <a:srgbClr val="5B6770"/>
                </a:solidFill>
                <a:latin typeface="Segoe UI"/>
              </a:rPr>
              <a:t>  — has →  </a:t>
            </a:r>
            <a:r>
              <a:rPr sz="1250" b="1">
                <a:solidFill>
                  <a:srgbClr val="1B2A4A"/>
                </a:solidFill>
                <a:latin typeface="Segoe UI"/>
              </a:rPr>
              <a:t>Role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33088"/>
            <a:ext cx="4754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B2A4A"/>
                </a:solidFill>
                <a:latin typeface="Segoe UI"/>
              </a:rPr>
              <a:t>User</a:t>
            </a:r>
            <a:r>
              <a:rPr sz="1100" b="0">
                <a:solidFill>
                  <a:srgbClr val="5B6770"/>
                </a:solidFill>
                <a:latin typeface="Segoe UI"/>
              </a:rPr>
              <a:t>  — has →  </a:t>
            </a:r>
            <a:r>
              <a:rPr sz="1250" b="1">
                <a:solidFill>
                  <a:srgbClr val="1B2A4A"/>
                </a:solidFill>
                <a:latin typeface="Segoe UI"/>
              </a:rPr>
              <a:t>Licence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35424"/>
            <a:ext cx="4754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B2A4A"/>
                </a:solidFill>
                <a:latin typeface="Segoe UI"/>
              </a:rPr>
              <a:t>User</a:t>
            </a:r>
            <a:r>
              <a:rPr sz="1100" b="0">
                <a:solidFill>
                  <a:srgbClr val="5B6770"/>
                </a:solidFill>
                <a:latin typeface="Segoe UI"/>
              </a:rPr>
              <a:t>  — uses →  </a:t>
            </a:r>
            <a:r>
              <a:rPr sz="1250" b="1">
                <a:solidFill>
                  <a:srgbClr val="1B2A4A"/>
                </a:solidFill>
                <a:latin typeface="Segoe UI"/>
              </a:rPr>
              <a:t>Product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37760"/>
            <a:ext cx="4754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B2A4A"/>
                </a:solidFill>
                <a:latin typeface="Segoe UI"/>
              </a:rPr>
              <a:t>Licence</a:t>
            </a:r>
            <a:r>
              <a:rPr sz="1100" b="0">
                <a:solidFill>
                  <a:srgbClr val="5B6770"/>
                </a:solidFill>
                <a:latin typeface="Segoe UI"/>
              </a:rPr>
              <a:t>  — belongs to →  </a:t>
            </a:r>
            <a:r>
              <a:rPr sz="1250" b="1">
                <a:solidFill>
                  <a:srgbClr val="1B2A4A"/>
                </a:solidFill>
                <a:latin typeface="Segoe UI"/>
              </a:rPr>
              <a:t>Org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40096"/>
            <a:ext cx="4754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B2A4A"/>
                </a:solidFill>
                <a:latin typeface="Segoe UI"/>
              </a:rPr>
              <a:t>Product</a:t>
            </a:r>
            <a:r>
              <a:rPr sz="1100" b="0">
                <a:solidFill>
                  <a:srgbClr val="5B6770"/>
                </a:solidFill>
                <a:latin typeface="Segoe UI"/>
              </a:rPr>
              <a:t>  — has →  </a:t>
            </a:r>
            <a:r>
              <a:rPr sz="1250" b="1">
                <a:solidFill>
                  <a:srgbClr val="1B2A4A"/>
                </a:solidFill>
                <a:latin typeface="Segoe UI"/>
              </a:rPr>
              <a:t>Entitlement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632704"/>
            <a:ext cx="4937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5B6770"/>
                </a:solidFill>
                <a:latin typeface="Segoe UI"/>
              </a:rPr>
              <a:t>Entities: </a:t>
            </a:r>
            <a:r>
              <a:rPr sz="1050" b="0">
                <a:solidFill>
                  <a:srgbClr val="5B6770"/>
                </a:solidFill>
                <a:latin typeface="Segoe UI"/>
              </a:rPr>
              <a:t>User · Role · BusinessUnit · Licence · Product · Org · Entitlement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2286000"/>
            <a:ext cx="5330952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2450592"/>
            <a:ext cx="47823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F6BD6"/>
                </a:solidFill>
                <a:latin typeface="Segoe UI"/>
              </a:rPr>
              <a:t>THE STACK</a:t>
            </a:r>
            <a:r>
              <a:rPr sz="1100" b="0">
                <a:solidFill>
                  <a:srgbClr val="5B6770"/>
                </a:solidFill>
                <a:latin typeface="Segoe UI"/>
              </a:rPr>
              <a:t>   ·  signal → trusted answer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2907792"/>
            <a:ext cx="4690872" cy="5486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3720" y="2907792"/>
            <a:ext cx="42336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Fabric Lakehouse</a:t>
            </a:r>
            <a:r>
              <a:rPr sz="1000" b="0">
                <a:solidFill>
                  <a:srgbClr val="DBE7F4"/>
                </a:solidFill>
                <a:latin typeface="Segoe UI"/>
              </a:rPr>
              <a:t>   — ConferencesData — 17 tables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8938260" y="3461004"/>
            <a:ext cx="164592" cy="109728"/>
          </a:xfrm>
          <a:prstGeom prst="downArrow">
            <a:avLst/>
          </a:prstGeom>
          <a:solidFill>
            <a:srgbClr val="B6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75120" y="3579876"/>
            <a:ext cx="4690872" cy="5486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3720" y="3579876"/>
            <a:ext cx="42336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Semantic model (Direct Lake)</a:t>
            </a:r>
            <a:r>
              <a:rPr sz="1000" b="0">
                <a:solidFill>
                  <a:srgbClr val="DBE7F4"/>
                </a:solidFill>
                <a:latin typeface="Segoe UI"/>
              </a:rPr>
              <a:t>   — Live measures; definition spread self-evident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8938260" y="4133088"/>
            <a:ext cx="164592" cy="109728"/>
          </a:xfrm>
          <a:prstGeom prst="downArrow">
            <a:avLst/>
          </a:prstGeom>
          <a:solidFill>
            <a:srgbClr val="B6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675120" y="4251960"/>
            <a:ext cx="4690872" cy="5486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03720" y="4251960"/>
            <a:ext cx="42336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Fabric Ontology</a:t>
            </a:r>
            <a:r>
              <a:rPr sz="1000" b="0">
                <a:solidFill>
                  <a:srgbClr val="DBE7F4"/>
                </a:solidFill>
                <a:latin typeface="Segoe UI"/>
              </a:rPr>
              <a:t>   — 13 entity types, verbs bound to OneLake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8938260" y="4805172"/>
            <a:ext cx="164592" cy="109728"/>
          </a:xfrm>
          <a:prstGeom prst="downArrow">
            <a:avLst/>
          </a:prstGeom>
          <a:solidFill>
            <a:srgbClr val="B6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675120" y="4924044"/>
            <a:ext cx="4690872" cy="548640"/>
          </a:xfrm>
          <a:prstGeom prst="roundRect">
            <a:avLst/>
          </a:prstGeom>
          <a:solidFill>
            <a:srgbClr val="2F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4924044"/>
            <a:ext cx="42336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Fabric Data Agent</a:t>
            </a:r>
            <a:r>
              <a:rPr sz="1000" b="0">
                <a:solidFill>
                  <a:srgbClr val="DBE7F4"/>
                </a:solidFill>
                <a:latin typeface="Segoe UI"/>
              </a:rPr>
              <a:t>   — Grounded, conversational, cites its definitions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8938260" y="5477256"/>
            <a:ext cx="164592" cy="109728"/>
          </a:xfrm>
          <a:prstGeom prst="downArrow">
            <a:avLst/>
          </a:prstGeom>
          <a:solidFill>
            <a:srgbClr val="B6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675120" y="5596128"/>
            <a:ext cx="4690872" cy="548640"/>
          </a:xfrm>
          <a:prstGeom prst="roundRect">
            <a:avLst/>
          </a:prstGeom>
          <a:solidFill>
            <a:srgbClr val="245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03720" y="5596128"/>
            <a:ext cx="42336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Foundry Agent + Foundry IQ</a:t>
            </a:r>
            <a:r>
              <a:rPr sz="1000" b="0">
                <a:solidFill>
                  <a:srgbClr val="DBE7F4"/>
                </a:solidFill>
                <a:latin typeface="Segoe UI"/>
              </a:rPr>
              <a:t>   — Adds knowledge; delivered in Teams / M365 Copilot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2F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Contoso Events</a:t>
            </a:r>
            <a:r>
              <a:rPr sz="1800" b="0">
                <a:solidFill>
                  <a:srgbClr val="6F86A6"/>
                </a:solidFill>
                <a:latin typeface="Segoe UI"/>
              </a:rPr>
              <a:t>    |    </a:t>
            </a:r>
            <a:r>
              <a:rPr sz="1400" b="1">
                <a:solidFill>
                  <a:srgbClr val="CFE0F2"/>
                </a:solidFill>
                <a:latin typeface="Segoe UI"/>
              </a:rPr>
              <a:t>Conferences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37744"/>
            <a:ext cx="1645920" cy="365760"/>
          </a:xfrm>
          <a:prstGeom prst="roundRect">
            <a:avLst/>
          </a:prstGeom>
          <a:noFill/>
          <a:ln w="12700">
            <a:solidFill>
              <a:srgbClr val="6F8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56032"/>
            <a:ext cx="1645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F6BD6"/>
                </a:solidFill>
                <a:latin typeface="Segoe UI"/>
              </a:rPr>
              <a:t>● </a:t>
            </a:r>
            <a:r>
              <a:rPr sz="1050" b="1">
                <a:solidFill>
                  <a:srgbClr val="CFE0F2"/>
                </a:solidFill>
                <a:latin typeface="Segoe UI"/>
              </a:rPr>
              <a:t>ILLUSTRATIVE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ED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111556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B2A4A"/>
                </a:solidFill>
                <a:latin typeface="Segoe UI"/>
              </a:rPr>
              <a:t>Illustrative only. </a:t>
            </a:r>
            <a:r>
              <a:rPr sz="900" b="0">
                <a:solidFill>
                  <a:srgbClr val="5B6770"/>
                </a:solidFill>
                <a:latin typeface="Segoe UI"/>
              </a:rPr>
              <a:t>Synthetic demo data generated for this project. “Contoso Events” is a fictitious company; any resemblance to real organizations is coincidental.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5156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B2A4A"/>
                </a:solidFill>
                <a:latin typeface="Segoe UI"/>
              </a:rPr>
              <a:t>Two questions the business actually 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2763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5B6770"/>
                </a:solidFill>
                <a:latin typeface="Segoe UI"/>
              </a:rPr>
              <a:t>Answered live by the agent — every figure grounded in the trusted </a:t>
            </a:r>
            <a:r>
              <a:rPr sz="1600" b="1">
                <a:solidFill>
                  <a:srgbClr val="2F6BD6"/>
                </a:solidFill>
                <a:latin typeface="Segoe UI"/>
              </a:rPr>
              <a:t>ConferencesData</a:t>
            </a:r>
            <a:r>
              <a:rPr sz="1600" b="0">
                <a:solidFill>
                  <a:srgbClr val="5B6770"/>
                </a:solidFill>
                <a:latin typeface="Segoe UI"/>
              </a:rPr>
              <a:t> model.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04288"/>
            <a:ext cx="544068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432304"/>
            <a:ext cx="82296" cy="3538728"/>
          </a:xfrm>
          <a:prstGeom prst="rect">
            <a:avLst/>
          </a:prstGeom>
          <a:solidFill>
            <a:srgbClr val="2F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2487168"/>
            <a:ext cx="4892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F6BD6"/>
                </a:solidFill>
                <a:latin typeface="Segoe UI"/>
              </a:rPr>
              <a:t>SPEAKER IMPACT  ·  licensed users attended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" y="2871216"/>
            <a:ext cx="4837176" cy="566928"/>
          </a:xfrm>
          <a:prstGeom prst="round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2871216"/>
            <a:ext cx="4526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F6BD6"/>
                </a:solidFill>
                <a:latin typeface="Segoe UI"/>
              </a:rPr>
              <a:t>Q   </a:t>
            </a:r>
            <a:r>
              <a:rPr sz="1150" b="0">
                <a:solidFill>
                  <a:srgbClr val="1A1A1A"/>
                </a:solidFill>
                <a:latin typeface="Segoe UI"/>
              </a:rPr>
              <a:t>Which speakers had the most licensed users attend?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" y="3639312"/>
            <a:ext cx="4837176" cy="402336"/>
          </a:xfrm>
          <a:prstGeom prst="rect">
            <a:avLst/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3639312"/>
            <a:ext cx="29260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770"/>
                </a:solidFill>
                <a:latin typeface="Segoe UI"/>
              </a:rPr>
              <a:t>1.  </a:t>
            </a:r>
            <a:r>
              <a:rPr sz="1350" b="1">
                <a:solidFill>
                  <a:srgbClr val="1B2A4A"/>
                </a:solidFill>
                <a:latin typeface="Segoe UI"/>
              </a:rPr>
              <a:t>Sara Nguyen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639312"/>
            <a:ext cx="18745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2A4A"/>
                </a:solidFill>
                <a:latin typeface="Segoe UI"/>
              </a:rPr>
              <a:t>4,081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4041648"/>
            <a:ext cx="29260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770"/>
                </a:solidFill>
                <a:latin typeface="Segoe UI"/>
              </a:rPr>
              <a:t>2.  </a:t>
            </a:r>
            <a:r>
              <a:rPr sz="1200" b="1">
                <a:solidFill>
                  <a:srgbClr val="1A1A1A"/>
                </a:solidFill>
                <a:latin typeface="Segoe UI"/>
              </a:rPr>
              <a:t>Tariq Popov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4041648"/>
            <a:ext cx="18745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770"/>
                </a:solidFill>
                <a:latin typeface="Segoe UI"/>
              </a:rPr>
              <a:t>3,560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4443984"/>
            <a:ext cx="29260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770"/>
                </a:solidFill>
                <a:latin typeface="Segoe UI"/>
              </a:rPr>
              <a:t>3.  </a:t>
            </a:r>
            <a:r>
              <a:rPr sz="1200" b="1">
                <a:solidFill>
                  <a:srgbClr val="1A1A1A"/>
                </a:solidFill>
                <a:latin typeface="Segoe UI"/>
              </a:rPr>
              <a:t>Hugo Yilmaz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4443984"/>
            <a:ext cx="18745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770"/>
                </a:solidFill>
                <a:latin typeface="Segoe UI"/>
              </a:rPr>
              <a:t>2,506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4846320"/>
            <a:ext cx="29260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770"/>
                </a:solidFill>
                <a:latin typeface="Segoe UI"/>
              </a:rPr>
              <a:t>4.  </a:t>
            </a:r>
            <a:r>
              <a:rPr sz="1200" b="1">
                <a:solidFill>
                  <a:srgbClr val="1A1A1A"/>
                </a:solidFill>
                <a:latin typeface="Segoe UI"/>
              </a:rPr>
              <a:t>Rosa Weber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4846320"/>
            <a:ext cx="18745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770"/>
                </a:solidFill>
                <a:latin typeface="Segoe UI"/>
              </a:rPr>
              <a:t>2,386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5248656"/>
            <a:ext cx="29260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770"/>
                </a:solidFill>
                <a:latin typeface="Segoe UI"/>
              </a:rPr>
              <a:t>5.  </a:t>
            </a:r>
            <a:r>
              <a:rPr sz="1200" b="1">
                <a:solidFill>
                  <a:srgbClr val="1A1A1A"/>
                </a:solidFill>
                <a:latin typeface="Segoe UI"/>
              </a:rPr>
              <a:t>Ines Popov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5248656"/>
            <a:ext cx="18745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770"/>
                </a:solidFill>
                <a:latin typeface="Segoe UI"/>
              </a:rPr>
              <a:t>2,331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" y="5733288"/>
            <a:ext cx="4892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E7A3D"/>
                </a:solidFill>
                <a:latin typeface="Segoe UI"/>
              </a:rPr>
              <a:t>●  via Fabric Data Agent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45352" y="2304288"/>
            <a:ext cx="544068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45352" y="2432304"/>
            <a:ext cx="82296" cy="3538728"/>
          </a:xfrm>
          <a:prstGeom prst="rect">
            <a:avLst/>
          </a:prstGeom>
          <a:solidFill>
            <a:srgbClr val="2F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56248" y="2487168"/>
            <a:ext cx="4892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F6BD6"/>
                </a:solidFill>
                <a:latin typeface="Segoe UI"/>
              </a:rPr>
              <a:t>SPONSOR VALUE  ·  influenced pipeline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56248" y="2871216"/>
            <a:ext cx="4837176" cy="566928"/>
          </a:xfrm>
          <a:prstGeom prst="round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2871216"/>
            <a:ext cx="4526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F6BD6"/>
                </a:solidFill>
                <a:latin typeface="Segoe UI"/>
              </a:rPr>
              <a:t>Q   </a:t>
            </a:r>
            <a:r>
              <a:rPr sz="1150" b="0">
                <a:solidFill>
                  <a:srgbClr val="1A1A1A"/>
                </a:solidFill>
                <a:latin typeface="Segoe UI"/>
              </a:rPr>
              <a:t>What sponsors drove the most value?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56248" y="3639312"/>
            <a:ext cx="4837176" cy="402336"/>
          </a:xfrm>
          <a:prstGeom prst="rect">
            <a:avLst/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3639312"/>
            <a:ext cx="29260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770"/>
                </a:solidFill>
                <a:latin typeface="Segoe UI"/>
              </a:rPr>
              <a:t>1.  </a:t>
            </a:r>
            <a:r>
              <a:rPr sz="1350" b="1">
                <a:solidFill>
                  <a:srgbClr val="1B2A4A"/>
                </a:solidFill>
                <a:latin typeface="Segoe UI"/>
              </a:rPr>
              <a:t>Datallar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45752" y="3639312"/>
            <a:ext cx="18745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2A4A"/>
                </a:solidFill>
                <a:latin typeface="Segoe UI"/>
              </a:rPr>
              <a:t>$5.2M  ·  2.61×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4041648"/>
            <a:ext cx="29260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770"/>
                </a:solidFill>
                <a:latin typeface="Segoe UI"/>
              </a:rPr>
              <a:t>2.  </a:t>
            </a:r>
            <a:r>
              <a:rPr sz="1200" b="1">
                <a:solidFill>
                  <a:srgbClr val="1A1A1A"/>
                </a:solidFill>
                <a:latin typeface="Segoe UI"/>
              </a:rPr>
              <a:t>Fluxgate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45752" y="4041648"/>
            <a:ext cx="18745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770"/>
                </a:solidFill>
                <a:latin typeface="Segoe UI"/>
              </a:rPr>
              <a:t>$1.8M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4443984"/>
            <a:ext cx="29260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770"/>
                </a:solidFill>
                <a:latin typeface="Segoe UI"/>
              </a:rPr>
              <a:t>3.  </a:t>
            </a:r>
            <a:r>
              <a:rPr sz="1200" b="1">
                <a:solidFill>
                  <a:srgbClr val="1A1A1A"/>
                </a:solidFill>
                <a:latin typeface="Segoe UI"/>
              </a:rPr>
              <a:t>Warehowl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45752" y="4443984"/>
            <a:ext cx="18745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770"/>
                </a:solidFill>
                <a:latin typeface="Segoe UI"/>
              </a:rPr>
              <a:t>$1.2M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0840" y="4846320"/>
            <a:ext cx="29260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770"/>
                </a:solidFill>
                <a:latin typeface="Segoe UI"/>
              </a:rPr>
              <a:t>4.  </a:t>
            </a:r>
            <a:r>
              <a:rPr sz="1200" b="1">
                <a:solidFill>
                  <a:srgbClr val="1A1A1A"/>
                </a:solidFill>
                <a:latin typeface="Segoe UI"/>
              </a:rPr>
              <a:t>Bindery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45752" y="4846320"/>
            <a:ext cx="18745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770"/>
                </a:solidFill>
                <a:latin typeface="Segoe UI"/>
              </a:rPr>
              <a:t>$1.0M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5248656"/>
            <a:ext cx="29260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770"/>
                </a:solidFill>
                <a:latin typeface="Segoe UI"/>
              </a:rPr>
              <a:t>5.  </a:t>
            </a:r>
            <a:r>
              <a:rPr sz="1200" b="1">
                <a:solidFill>
                  <a:srgbClr val="1A1A1A"/>
                </a:solidFill>
                <a:latin typeface="Segoe UI"/>
              </a:rPr>
              <a:t>Brightpath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45752" y="5248656"/>
            <a:ext cx="18745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770"/>
                </a:solidFill>
                <a:latin typeface="Segoe UI"/>
              </a:rPr>
              <a:t>$1.0M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56248" y="5733288"/>
            <a:ext cx="4892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E7A3D"/>
                </a:solidFill>
                <a:latin typeface="Segoe UI"/>
              </a:rPr>
              <a:t>●  via Fabric Data 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2F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Contoso Events</a:t>
            </a:r>
            <a:r>
              <a:rPr sz="1800" b="0">
                <a:solidFill>
                  <a:srgbClr val="6F86A6"/>
                </a:solidFill>
                <a:latin typeface="Segoe UI"/>
              </a:rPr>
              <a:t>    |    </a:t>
            </a:r>
            <a:r>
              <a:rPr sz="1400" b="1">
                <a:solidFill>
                  <a:srgbClr val="CFE0F2"/>
                </a:solidFill>
                <a:latin typeface="Segoe UI"/>
              </a:rPr>
              <a:t>Conferences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37744"/>
            <a:ext cx="1645920" cy="365760"/>
          </a:xfrm>
          <a:prstGeom prst="roundRect">
            <a:avLst/>
          </a:prstGeom>
          <a:noFill/>
          <a:ln w="12700">
            <a:solidFill>
              <a:srgbClr val="6F8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56032"/>
            <a:ext cx="1645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F6BD6"/>
                </a:solidFill>
                <a:latin typeface="Segoe UI"/>
              </a:rPr>
              <a:t>● </a:t>
            </a:r>
            <a:r>
              <a:rPr sz="1050" b="1">
                <a:solidFill>
                  <a:srgbClr val="CFE0F2"/>
                </a:solidFill>
                <a:latin typeface="Segoe UI"/>
              </a:rPr>
              <a:t>ILLUSTRATIVE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ED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111556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B2A4A"/>
                </a:solidFill>
                <a:latin typeface="Segoe UI"/>
              </a:rPr>
              <a:t>Illustrative only. </a:t>
            </a:r>
            <a:r>
              <a:rPr sz="900" b="0">
                <a:solidFill>
                  <a:srgbClr val="5B6770"/>
                </a:solidFill>
                <a:latin typeface="Segoe UI"/>
              </a:rPr>
              <a:t>Synthetic demo data generated for this project. “Contoso Events” is a fictitious company; any resemblance to real organizations is coincidental.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5156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B2A4A"/>
                </a:solidFill>
                <a:latin typeface="Segoe UI"/>
              </a:rPr>
              <a:t>One agent, two grounded brains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2763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5B6770"/>
                </a:solidFill>
                <a:latin typeface="Segoe UI"/>
              </a:rPr>
              <a:t>The Foundry orchestrator routes each question to the right source — and tells you which one it used.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69767" y="2286000"/>
            <a:ext cx="5852160" cy="841248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4087" y="2404872"/>
            <a:ext cx="5303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Foundry Agent  ·  ConferenceIQ Orchestrator</a:t>
            </a:r>
            <a:r>
              <a:rPr sz="1100" b="0">
                <a:solidFill>
                  <a:srgbClr val="CFE0F2"/>
                </a:solidFill>
                <a:latin typeface="Segoe UI"/>
              </a:rPr>
              <a:t>   (gpt-4o)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4087" y="2743200"/>
            <a:ext cx="53035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CFE0F2"/>
                </a:solidFill>
                <a:latin typeface="Segoe UI"/>
              </a:rPr>
              <a:t>Reads the question, picks the source, cites what it used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611880"/>
            <a:ext cx="52578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611880"/>
            <a:ext cx="5257800" cy="64008"/>
          </a:xfrm>
          <a:prstGeom prst="rect">
            <a:avLst/>
          </a:prstGeom>
          <a:solidFill>
            <a:srgbClr val="2F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794760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2A4A"/>
                </a:solidFill>
                <a:latin typeface="Segoe UI"/>
              </a:rPr>
              <a:t>FABRIC DATA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142232"/>
            <a:ext cx="4709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F6BD6"/>
                </a:solidFill>
                <a:latin typeface="Segoe UI"/>
              </a:rPr>
              <a:t>Source of truth for numbers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507992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770"/>
                </a:solidFill>
                <a:latin typeface="Segoe UI"/>
              </a:rPr>
              <a:t>counts  ·  rankings  ·  ROI  ·  influenced pipeline  ·  attendance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983480"/>
            <a:ext cx="4709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1A1A1A"/>
                </a:solidFill>
                <a:latin typeface="Segoe UI"/>
              </a:rPr>
              <a:t>e.g.  Sara Nguyen 4,081   ·   Datallar $5.2M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39535" y="3611880"/>
            <a:ext cx="52578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9535" y="3611880"/>
            <a:ext cx="5257800" cy="64008"/>
          </a:xfrm>
          <a:prstGeom prst="rect">
            <a:avLst/>
          </a:prstGeom>
          <a:solidFill>
            <a:srgbClr val="2F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32143" y="3794760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2A4A"/>
                </a:solidFill>
                <a:latin typeface="Segoe UI"/>
              </a:rPr>
              <a:t>FOUNDRY IQ KNOWLEDGE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32143" y="4142232"/>
            <a:ext cx="4709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F6BD6"/>
                </a:solidFill>
                <a:latin typeface="Segoe UI"/>
              </a:rPr>
              <a:t>Qualitative context &amp; narrative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32143" y="4507992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770"/>
                </a:solidFill>
                <a:latin typeface="Segoe UI"/>
              </a:rPr>
              <a:t>speaker bios  ·  session guides  ·  sponsor prospectus  ·  FAQ  ·  policies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32143" y="4983480"/>
            <a:ext cx="4709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1A1A1A"/>
                </a:solidFill>
                <a:latin typeface="Segoe UI"/>
              </a:rPr>
              <a:t>e.g.  Platinum package $250K   ·   speaker backgrounds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3131820" y="3182112"/>
            <a:ext cx="182880" cy="365760"/>
          </a:xfrm>
          <a:prstGeom prst="downArrow">
            <a:avLst/>
          </a:prstGeom>
          <a:solidFill>
            <a:srgbClr val="B6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wn Arrow 27"/>
          <p:cNvSpPr/>
          <p:nvPr/>
        </p:nvSpPr>
        <p:spPr>
          <a:xfrm>
            <a:off x="8876995" y="3182112"/>
            <a:ext cx="182880" cy="365760"/>
          </a:xfrm>
          <a:prstGeom prst="downArrow">
            <a:avLst/>
          </a:prstGeom>
          <a:solidFill>
            <a:srgbClr val="B6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4360" y="5742432"/>
            <a:ext cx="11002975" cy="457200"/>
          </a:xfrm>
          <a:prstGeom prst="round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742432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B2A4A"/>
                </a:solidFill>
                <a:latin typeface="Segoe UI"/>
              </a:rPr>
              <a:t>Blended questions use both — </a:t>
            </a:r>
            <a:r>
              <a:rPr sz="1150" b="0">
                <a:solidFill>
                  <a:srgbClr val="5B6770"/>
                </a:solidFill>
                <a:latin typeface="Segoe UI"/>
              </a:rPr>
              <a:t>a hard number from Fabric, enriched with knowledge — and every answer names its source.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2F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Contoso Events</a:t>
            </a:r>
            <a:r>
              <a:rPr sz="1800" b="0">
                <a:solidFill>
                  <a:srgbClr val="6F86A6"/>
                </a:solidFill>
                <a:latin typeface="Segoe UI"/>
              </a:rPr>
              <a:t>    |    </a:t>
            </a:r>
            <a:r>
              <a:rPr sz="1400" b="1">
                <a:solidFill>
                  <a:srgbClr val="CFE0F2"/>
                </a:solidFill>
                <a:latin typeface="Segoe UI"/>
              </a:rPr>
              <a:t>Conferences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37744"/>
            <a:ext cx="1645920" cy="365760"/>
          </a:xfrm>
          <a:prstGeom prst="roundRect">
            <a:avLst/>
          </a:prstGeom>
          <a:noFill/>
          <a:ln w="12700">
            <a:solidFill>
              <a:srgbClr val="6F8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56032"/>
            <a:ext cx="1645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F6BD6"/>
                </a:solidFill>
                <a:latin typeface="Segoe UI"/>
              </a:rPr>
              <a:t>● </a:t>
            </a:r>
            <a:r>
              <a:rPr sz="1050" b="1">
                <a:solidFill>
                  <a:srgbClr val="CFE0F2"/>
                </a:solidFill>
                <a:latin typeface="Segoe UI"/>
              </a:rPr>
              <a:t>ILLUSTRATIVE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ED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111556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B2A4A"/>
                </a:solidFill>
                <a:latin typeface="Segoe UI"/>
              </a:rPr>
              <a:t>Illustrative only. </a:t>
            </a:r>
            <a:r>
              <a:rPr sz="900" b="0">
                <a:solidFill>
                  <a:srgbClr val="5B6770"/>
                </a:solidFill>
                <a:latin typeface="Segoe UI"/>
              </a:rPr>
              <a:t>Synthetic demo data generated for this project. “Contoso Events” is a fictitious company; any resemblance to real organizations is coincidental.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5156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B2A4A"/>
                </a:solidFill>
                <a:latin typeface="Segoe UI"/>
              </a:rPr>
              <a:t>Ask it anything — even questions that need both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2763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5B6770"/>
                </a:solidFill>
                <a:latin typeface="Segoe UI"/>
              </a:rPr>
              <a:t>Blended questions force the agent to combine a hard number with descriptive context.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86000"/>
            <a:ext cx="1118311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377440"/>
            <a:ext cx="82296" cy="566928"/>
          </a:xfrm>
          <a:prstGeom prst="rect">
            <a:avLst/>
          </a:prstGeom>
          <a:solidFill>
            <a:srgbClr val="2F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386584"/>
            <a:ext cx="83210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B2A4A"/>
                </a:solidFill>
                <a:latin typeface="Segoe UI"/>
              </a:rPr>
              <a:t>Which speaker drew the most licensed users — and what’s their background?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697480"/>
            <a:ext cx="8321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770"/>
                </a:solidFill>
                <a:latin typeface="Segoe UI"/>
              </a:rPr>
              <a:t>→  Sara Nguyen (4,081), enriched with their speaker bio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2496312"/>
            <a:ext cx="2103120" cy="329184"/>
          </a:xfrm>
          <a:prstGeom prst="round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2496312"/>
            <a:ext cx="2103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2456B3"/>
                </a:solidFill>
                <a:latin typeface="Segoe UI"/>
              </a:rPr>
              <a:t>Fabric + Foundry IQ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145536"/>
            <a:ext cx="1118311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236976"/>
            <a:ext cx="82296" cy="566928"/>
          </a:xfrm>
          <a:prstGeom prst="rect">
            <a:avLst/>
          </a:prstGeom>
          <a:solidFill>
            <a:srgbClr val="2F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246120"/>
            <a:ext cx="83210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B2A4A"/>
                </a:solidFill>
                <a:latin typeface="Segoe UI"/>
              </a:rPr>
              <a:t>Our top sponsor by influenced pipeline — which package did they buy?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557016"/>
            <a:ext cx="8321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770"/>
                </a:solidFill>
                <a:latin typeface="Segoe UI"/>
              </a:rPr>
              <a:t>→  Datallar ($5.2M), with their sponsorship tier from the prospectus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3355848"/>
            <a:ext cx="2103120" cy="329184"/>
          </a:xfrm>
          <a:prstGeom prst="round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3355848"/>
            <a:ext cx="2103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2456B3"/>
                </a:solidFill>
                <a:latin typeface="Segoe UI"/>
              </a:rPr>
              <a:t>Fabric + Foundry IQ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005072"/>
            <a:ext cx="1118311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096512"/>
            <a:ext cx="82296" cy="566928"/>
          </a:xfrm>
          <a:prstGeom prst="rect">
            <a:avLst/>
          </a:prstGeom>
          <a:solidFill>
            <a:srgbClr val="2F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105656"/>
            <a:ext cx="83210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B2A4A"/>
                </a:solidFill>
                <a:latin typeface="Segoe UI"/>
              </a:rPr>
              <a:t>Which conference had the highest licensed attendance, and what were its themes?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416552"/>
            <a:ext cx="8321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770"/>
                </a:solidFill>
                <a:latin typeface="Segoe UI"/>
              </a:rPr>
              <a:t>→  Top event by registrations, plus its agenda and headline tracks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26880" y="4215384"/>
            <a:ext cx="2103120" cy="329184"/>
          </a:xfrm>
          <a:prstGeom prst="round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4215384"/>
            <a:ext cx="2103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2456B3"/>
                </a:solidFill>
                <a:latin typeface="Segoe UI"/>
              </a:rPr>
              <a:t>Fabric + Foundry IQ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864608"/>
            <a:ext cx="1118311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4956048"/>
            <a:ext cx="82296" cy="566928"/>
          </a:xfrm>
          <a:prstGeom prst="rect">
            <a:avLst/>
          </a:prstGeom>
          <a:solidFill>
            <a:srgbClr val="2F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965192"/>
            <a:ext cx="83210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B2A4A"/>
                </a:solidFill>
                <a:latin typeface="Segoe UI"/>
              </a:rPr>
              <a:t>Top sponsors by ROI — are they on our premium tiers, and what would an upgrade add?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276088"/>
            <a:ext cx="8321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770"/>
                </a:solidFill>
                <a:latin typeface="Segoe UI"/>
              </a:rPr>
              <a:t>→  ROI ranking, matched to package benefits and upsell options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26880" y="5074920"/>
            <a:ext cx="2103120" cy="329184"/>
          </a:xfrm>
          <a:prstGeom prst="roundRect">
            <a:avLst/>
          </a:prstGeom>
          <a:solidFill>
            <a:srgbClr val="E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5074920"/>
            <a:ext cx="2103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2456B3"/>
                </a:solidFill>
                <a:latin typeface="Segoe UI"/>
              </a:rPr>
              <a:t>Fabric + Foundry IQ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852160"/>
            <a:ext cx="11155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770"/>
                </a:solidFill>
                <a:latin typeface="Segoe UI"/>
              </a:rPr>
              <a:t>Delivered where the business already works — </a:t>
            </a:r>
            <a:r>
              <a:rPr sz="1200" b="1">
                <a:solidFill>
                  <a:srgbClr val="1B2A4A"/>
                </a:solidFill>
                <a:latin typeface="Segoe UI"/>
              </a:rPr>
              <a:t>Teams, Microsoft 365 Copilot, or a branded web client.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